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569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გამარჯობა. მე ვარ გიორგი მანჯავიძე და წარმოგიდგენთ ჩემს საბაკალავრო ნაშრომს — საქართველოს ტურისტული გზამკვლევის მობილურ აპლიკაციას. პროექტი მოიცავს როგორც მობილურ კლიენტს, ისე მიკროსერვისულ სერვერულ ნაწილს.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მოგზაურობის დაგეგმვისას მომხმარებელს უწევს რამდენიმე ვებგვერდის, სოციალური ქსელისა და რუკის აპლიკაციის პარალელურად გამოყენება. ეს ოთხი პრობლემა ერთად ქმნის ბარიერს როგორც ტურისტისთვის, ისე ტურისტული ობიექტებისთვის.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მიზანი ორმაგია: ერთი მხრივ, პრაქტიკული პროდუქტი მოგზაურისთვის; მეორე მხრივ, თანამედროვე არქიტექტურული მიდგომების პრაქტიკული გამოყენების დემონსტრირება.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Flutter აპლიკაცია REST-ით უკავშირდება API Gateway-ს. Gateway ამოწმებს JWT ტოკენს და gRPC-ით მიმართავს შესაბამის მიკროსერვისს. ერთი მოთხოვნის დასამუშავებლად Gateway რამდენიმე სერვისს პარალელურად მიმართავს.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ავთენტიფიკაცია .NET-ზეა, რადგან ის მზა და გამოცდილ ინსტრუმენტებს იძლევა პაროლის ჰეშირებისა და ტოკენების მართვისთვის. დანარჩენი, ძირითადად საკითხავი სერვისები Go-ზეა დაწერილი.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სტეკის შერჩევისას მთავარი კრიტერიუმი იყო ამოცანასთან შესაბამისობა. Flutter ერთი კოდის ბაზიდან Android-ისა და iOS-ისთვის; PostgreSQL გეოგრაფიულ მონაცემებთან მუშაობის მხარდაჭერის გამო.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სქემა ნორმალიზებულია და მიკროსერვისების ლოგიკურ საზღვრებს იცავს — თითოეული სერვისი მხოლოდ თავის ცხრილებთან მუშაობს.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ტოკენების წყვილი ამცირებს რისკს: მოკლევადიანი access ტოკენი ზღუდავს მოპარვის შემთხვევაში ზიანს, ხოლო refresh ტოკენი მომხმარებელს ხშირი ხელახალი შესვლისგან ათავისუფლებს.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ტესტირება მიმდინარეობდა განვითარების პარალელურად. ყველა სცენარი წარმატებით შესრულდა და კრიტიკული დეფექტები მიმდინარე ვერსიაში არ ფიქსირდება.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მნიშვნელოვანი დასკვნაა, რომ მიკროსერვისული მიდგომა უფასო არ არის. ამ მასშტაბის პროექტისთვის მონოლითი უფრო სწრაფი გზა იქნებოდა, თუმცა პროექტის ერთ-ერთი მიზანი სწორედ ამ არქიტექტურის პრაქტიკული ათვისება იყო.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ორკესტრაცია (Kubernetes) შეგნებულად არ გამოვიყენე — ერთ სერვერზე Docker Compose სრულიად საკმარისია. სისტემა თუმცა მზადაა მიგრაციისთვის, როცა დატვირთვა ამას მოითხოვს.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მადლობა ყურადღებისთვის. მზად ვარ კითხვებისთვის. პროექტის სრული კოდი ხელმისაწვდომია GitHub-ზე.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023360"/>
            <a:ext cx="10972800" cy="6400800"/>
          </a:xfrm>
          <a:prstGeom prst="ellipse">
            <a:avLst/>
          </a:prstGeom>
          <a:solidFill>
            <a:srgbClr val="075E6B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4754880"/>
            <a:ext cx="11887200" cy="6400800"/>
          </a:xfrm>
          <a:prstGeom prst="ellipse">
            <a:avLst/>
          </a:prstGeom>
          <a:solidFill>
            <a:srgbClr val="0E8C9E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B6B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ᲑᲘᲖᲜᲔᲡᲘᲡᲐ ᲓᲐ ᲢᲔᲥᲜᲝᲚᲝᲒᲘᲔᲑᲘᲡ ᲣᲜᲘᲕᲔᲠᲡᲘᲢᲔᲢᲘ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8595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საქართველოს ტურისტული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გზამკვლევის მობილური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აპლიკაცია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C4C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Mobile Application: A Digital Tourist Guide to Georgia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411480" cy="0"/>
          </a:xfrm>
          <a:prstGeom prst="line">
            <a:avLst/>
          </a:prstGeom>
          <a:noFill/>
          <a:ln w="19050">
            <a:solidFill>
              <a:srgbClr val="0E8C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8FB6B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42.31°N   43.36°E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გიორგი მანჯავიძე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9FC4C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ინფორმაციული ტექნოლოგიების საბაკალავრო პროგრამა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9FC4C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ხელმძღვანელი: ირაკლი კაპანაძე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0" y="5989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6B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თბილისი,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49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ᲞᲠᲝᲑᲚᲔᲛᲐ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ინფორმაცია გაფანტულია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457200" cy="457200"/>
          </a:xfrm>
          <a:prstGeom prst="ellipse">
            <a:avLst/>
          </a:prstGeom>
          <a:solidFill>
            <a:srgbClr val="E3F1F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ფრაგმენტულობა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57860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ქალაქები, ღირსშესანიშნაობები, სასტუმროები და რესტორნები ათეულობით სხვადასხვა წყაროზეა.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148840"/>
            <a:ext cx="457200" cy="457200"/>
          </a:xfrm>
          <a:prstGeom prst="ellipse">
            <a:avLst/>
          </a:prstGeom>
          <a:solidFill>
            <a:srgbClr val="E3F1F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მოძველებული მონაცემები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57860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ერთსა და იმავე ობიექტზე სხვადასხვა წყარო განსხვავებულ ინფორმაციას იძლევა.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251960"/>
            <a:ext cx="457200" cy="457200"/>
          </a:xfrm>
          <a:prstGeom prst="ellipse">
            <a:avLst/>
          </a:prstGeom>
          <a:solidFill>
            <a:srgbClr val="E3F1F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რეგიონები უხილავია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68172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ციფრული რესურსები რამდენიმე პოპულარულ მიმართულებაზეა კონცენტრირებული.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251960"/>
            <a:ext cx="457200" cy="457200"/>
          </a:xfrm>
          <a:prstGeom prst="ellipse">
            <a:avLst/>
          </a:prstGeom>
          <a:solidFill>
            <a:srgbClr val="E3F1F3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4251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სუსტი ლოკალიზაცია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681728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გლობალური პლატფორმები საქართველოს მხოლოდ ერთ მიმართულებად განიხილავენ.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49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ᲛᲘᲖᲐᲜᲘ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ერთიანი ციფრული პლატფორმა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შეიქმნას მობილური აპლიკაცია, რომელიც საქართველოს ტურისტულ შეთავაზებას ერთ, სტრუქტურირებულ სივრცეში აერთიანებს.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ᲫᲘᲠᲘᲗᲐᲓᲘ ᲐᲛᲝᲪᲐᲜᲔᲑᲘ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3794760"/>
            <a:ext cx="292608" cy="292608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37764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მოთხოვნების ჩამოყალიბება და არსებული სისტემების ანალიზი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4270248"/>
            <a:ext cx="292608" cy="292608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42519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მიკროსერვისული არქიტექტურის დაპროექტება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4745736"/>
            <a:ext cx="292608" cy="292608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47274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მონაცემთა ბაზის სტრუქტურის შემუშავება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5221224"/>
            <a:ext cx="292608" cy="292608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5221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5202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სერვერული სერვისებისა და მობილური კლიენტის რეალიზაცია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5696712"/>
            <a:ext cx="292608" cy="292608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5696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" y="56784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ტესტირება და შედეგების შეფასება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4F8F9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965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ᲞᲠᲝᲓᲣᲥᲢᲘᲡ ᲤᲣᲜᲥᲪᲘᲔᲑᲘ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56832" y="2505456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24231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რეგისტრაცია და ავტორიზაცია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56832" y="3008376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2926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ქალაქების დათვალიერება, ძებნა, ფილტრაცია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56832" y="3511296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34290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ღირსშესანიშნაობები, რესტორნები, სასტუმროები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56832" y="4014216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3931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ტურისტული მარშრუტები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56832" y="4517136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44348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ლოკაციები ინტერაქტიულ რუკაზე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56832" y="5020056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49377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რჩეული ადგილების შენახვა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56832" y="5522976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54406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მომხმარებლის პროფილი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49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ᲡᲘᲡᲢᲔᲛᲘᲡ ᲓᲘᲖᲐᲘᲜᲘ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მიკროსერვისული არქიტექტურა</a:t>
            </a:r>
            <a:endParaRPr lang="en-US" sz="3200" dirty="0"/>
          </a:p>
        </p:txBody>
      </p:sp>
      <p:pic>
        <p:nvPicPr>
          <p:cNvPr id="4" name="Image 0" descr="/home/claude/arch_d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758952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1600200"/>
            <a:ext cx="2834640" cy="4572000"/>
          </a:xfrm>
          <a:prstGeom prst="roundRect">
            <a:avLst>
              <a:gd name="adj" fmla="val 2581"/>
            </a:avLst>
          </a:prstGeom>
          <a:solidFill>
            <a:srgbClr val="F4F8F9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61120" y="1874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ᲫᲘᲠᲘᲗᲐᲓᲘ ᲞᲠᲘᲜᲪᲘᲞᲔᲑᲘ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6112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ერთი შესვლის წერტილი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61120" y="2606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API Gateway იღებს ყველა მოთხოვნას და ამოწმებს ტოკენს.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961120" y="3291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REST გარეთ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961120" y="3566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კლიენტთან — მარტივი და ფართოდ მხარდაჭერილი.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961120" y="4251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gRPC შიგნით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61120" y="4526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ბინარული ფორმატი ამცირებს დაყოვნებას.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961120" y="5212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დამოუკიდებლობა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61120" y="5486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ერთი სერვისის გაჩერება მთელ სისტემას არ ათიშავს.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49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ᲡᲔᲠᲕᲘᲡᲔᲑᲘ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ხუთი მიკროსერვისი, ორი ენა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8E6BA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.NET 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4963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რეგისტრაცია, ავტორიზაცია,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JWT-ის გენერაცია, პროფილი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05740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E8C9E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24963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880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ქალაქები: სია, ძებნა,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ფილტრაცია რეგიონით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05740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E8C9E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0" y="24963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Places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ღირსშესანიშნაობები,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რესტორნები, სასტუმროები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29768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E8C9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97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7365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Route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5120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ტურისტული მარშრუტები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 მოგზაურობის გეგმები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40233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429768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E8C9E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297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7365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Favorite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09160" y="5120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მომხმარებლის რჩეული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ქალაქები და ლოკაციები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1605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თითოეული სერვისი დამოუკიდებლად ეშვება და მასშტაბირდება.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ენა შეირჩა ამოცანის მიხედვით: უსაფრთხოებისთვის .NET-ის მზა ინსტრუმენტები, მაღალი დატვირთვისთვის Go-ს მსუბუქი კონკურენტული მოდელი.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49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ᲢᲔᲥᲜᲝᲚᲝᲒᲘᲔᲑᲘ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ტექნოლოგიური სტეკი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4F8F9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მობილური კლიენტი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2990088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06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Flutter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3611880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27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Dart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4233672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496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Clean Architecture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4855464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4714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Riverpod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5477256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0932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go_router, Dio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173736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სერვერული ნაწილი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990088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606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Go (Golang)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3611880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227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ASP.NET Core 8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4233672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8496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REST API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4855464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4714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gRPC / Protocol Buffers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5477256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50932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JWT Authentication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0" y="173736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4F8F9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2011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მონაცემები და გარემო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49640" y="2990088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2606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PostgreSQL 16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549640" y="3611880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3227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Docker Compose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49640" y="4233672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9640" y="38496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Git / GitHub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549640" y="4855464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9640" y="44714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Postman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549640" y="5477256"/>
            <a:ext cx="2788920" cy="0"/>
          </a:xfrm>
          <a:prstGeom prst="line">
            <a:avLst/>
          </a:prstGeom>
          <a:noFill/>
          <a:ln w="12700">
            <a:solidFill>
              <a:srgbClr val="D5E4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50932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Adminer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49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ᲛᲝᲜᲐᲪᲔᲛᲔᲑᲘ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მონაცემთა ბაზის სტრუქტურა</a:t>
            </a:r>
            <a:endParaRPr lang="en-US" sz="3200" dirty="0"/>
          </a:p>
        </p:txBody>
      </p:sp>
      <p:pic>
        <p:nvPicPr>
          <p:cNvPr id="4" name="Image 0" descr="/home/claude/er_d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786384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78240" y="164592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F4F8F9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052560" y="1920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ᲒᲐᲓᲐᲬᲧᲕᲔᲢᲘᲚᲔᲑᲔᲑᲘ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052560" y="2377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7 ცხრილი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052560" y="26700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Users, Cities, Attractions, Restaurants, Hotels, Routes, Favorites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052560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პოლიმორფული ფავორიტები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052560" y="39044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entity_type განსაზღვრავს ტიპს — ცალკე ცხრილები არ სჭირდება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052560" y="4846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ინდექსები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52560" y="51389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ელფოსტა, ქალაქის სახელი, ყველა უცხო გასაღები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49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ᲣᲡᲐᲤᲠᲗᲮᲝᲔᲑᲐ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ავთენტიფიკაცია JWT-ით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148840"/>
            <a:ext cx="502920" cy="502920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შესვლა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მომხმარებელი აგზავნის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ელფოსტასა და პაროლს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24912" y="3063240"/>
            <a:ext cx="137160" cy="0"/>
          </a:xfrm>
          <a:prstGeom prst="line">
            <a:avLst/>
          </a:prstGeom>
          <a:noFill/>
          <a:ln w="19050">
            <a:solidFill>
              <a:srgbClr val="7A949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9504" y="192024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6744" y="2148840"/>
            <a:ext cx="502920" cy="502920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12" name="Text 10"/>
          <p:cNvSpPr/>
          <p:nvPr/>
        </p:nvSpPr>
        <p:spPr>
          <a:xfrm>
            <a:off x="3666744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26664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შემოწმება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26664" y="3108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პაროლი მოწმდება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bcrypt-ჰეშთან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74336" y="3063240"/>
            <a:ext cx="137160" cy="0"/>
          </a:xfrm>
          <a:prstGeom prst="line">
            <a:avLst/>
          </a:prstGeom>
          <a:noFill/>
          <a:ln w="19050">
            <a:solidFill>
              <a:srgbClr val="7A94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38928" y="192024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16168" y="2148840"/>
            <a:ext cx="502920" cy="502920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18" name="Text 16"/>
          <p:cNvSpPr/>
          <p:nvPr/>
        </p:nvSpPr>
        <p:spPr>
          <a:xfrm>
            <a:off x="5916168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76088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ტოკენები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76088" y="3108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გაიცემა access (15 წთ)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 refresh (30 დღე)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23760" y="3063240"/>
            <a:ext cx="137160" cy="0"/>
          </a:xfrm>
          <a:prstGeom prst="line">
            <a:avLst/>
          </a:prstGeom>
          <a:noFill/>
          <a:ln w="19050">
            <a:solidFill>
              <a:srgbClr val="7A949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88352" y="192024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65592" y="2148840"/>
            <a:ext cx="502920" cy="502920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24" name="Text 22"/>
          <p:cNvSpPr/>
          <p:nvPr/>
        </p:nvSpPr>
        <p:spPr>
          <a:xfrm>
            <a:off x="816559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25512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წვდომა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25512" y="3108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ყოველი მოთხოვნა მიდის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Bearer ტოკენით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73184" y="3063240"/>
            <a:ext cx="137160" cy="0"/>
          </a:xfrm>
          <a:prstGeom prst="line">
            <a:avLst/>
          </a:prstGeom>
          <a:noFill/>
          <a:ln w="19050">
            <a:solidFill>
              <a:srgbClr val="7A949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37776" y="1920240"/>
            <a:ext cx="2057400" cy="22860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15016" y="2148840"/>
            <a:ext cx="502920" cy="502920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30" name="Text 28"/>
          <p:cNvSpPr/>
          <p:nvPr/>
        </p:nvSpPr>
        <p:spPr>
          <a:xfrm>
            <a:off x="10415016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74936" y="2788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განახლება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74936" y="31089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401-ზე ტოკენი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ავტომატურად ახლდება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8463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დამატებითი ზომები:  </a:t>
            </a: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პაროლები ინახება მხოლოდ bcrypt-ჰეშირებული  ·  დაცული ენდპოინტები მოითხოვს ვალიდურ ტოკენს  ·  ტოკენის ხელმოწერის გასაღები საერთოა Gateway-სა და Auth-ს შორის  ·  სესიის მდგომარეობა სერვერზე არ ინახება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49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ᲮᲐᲠᲘᲡᲮᲘ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ტესტირება და შედეგები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8C9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სატესტო სცენარი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შესრულებულია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920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8C9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&lt; 500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09160" y="26974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მილიწამი — API-ის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საშუალო პასუხი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920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8C9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503920" y="26974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გამოვლენილი და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გამოსწორებული ხარვეზი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ᲢᲔᲡᲢᲘᲠᲔᲑᲘᲡ ᲓᲝᲜᲔᲔᲑᲘ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261104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60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ერთეულოვანი — Go testing, flutter_test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72584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572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ინტეგრაციული — gRPC გამოძახებები, ბაზა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084064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983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ფუნქციური — Postman-ის კოლექცია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495544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394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ინტერფეისის — ემულატორი და მოწყობილობა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907024"/>
            <a:ext cx="118872" cy="118872"/>
          </a:xfrm>
          <a:prstGeom prst="ellipse">
            <a:avLst/>
          </a:prstGeom>
          <a:solidFill>
            <a:srgbClr val="0E8C9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06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მიმღებლობითი — მომხმარებელთა ჯგუფი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93192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160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475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ᲛᲐᲒᲐᲚᲘᲗᲘ: ᲒᲐᲛᲝᲡᲬᲝᲠᲔᲑᲣᲚᲘ ᲮᲐᲠᲕᲔᲖᲘ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45720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პრობლემა: </a:t>
            </a: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ქალაქის გვერდი ნელა იტვირთებოდა.
</a:t>
            </a:r>
            <a:r>
              <a:rPr lang="en-US" sz="115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მიზეზი: </a:t>
            </a: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Gateway სერვისებს თანმიმდევრულად მიმართავდა.
</a:t>
            </a:r>
            <a:r>
              <a:rPr lang="en-US" sz="115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გადაწყვეტა: </a:t>
            </a:r>
            <a:r>
              <a:rPr lang="en-US" sz="115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გამოძახებები გადავიდა პარალელურ რეჟიმზე.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49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ᲓᲐᲡᲙᲕᲜᲔᲑᲘ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რა მოიგო და რა დაუჯდა არჩეულ მიდგომას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E3F1F3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უპირატესობები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9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+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560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დამოუკიდებელი მასშტაბირება სერვისების დონეზე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9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+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3154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ტექნოლოგიის შერჩევა ამოცანის მიხედვით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9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+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7490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ერთი სერვისის შეცდომა სისტემას არ აჩერებს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9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+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4343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gRPC-მ შეამცირა შიდა კომუნიკაციის დაყოვნება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9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+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937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ფენობრივი გამიჯვნა ამარტივებს ტესტირებას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78308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4F8F9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057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75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ფასი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75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2560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ლოკალური გაშვება მოითხოვს კონტეინერიზაციას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75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3154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გამართვა რთულია — ლოგები გაფანტულია სერვისებზე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75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12280" y="37490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სერვისებს შორის კონტრაქტების სინქრონიზაცია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75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12280" y="4343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მცირე გუნდისთვის ოპერაციული ტვირთი მაღალია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475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4937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მონოლითი უფრო სწრაფი იქნებოდა საწყის ეტაპზე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A949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ᲨᲔᲛᲓᲔᲒᲘ ᲜᲐᲑᲘᲯᲔᲑᲘ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სამომავლო განვითარება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03120"/>
            <a:ext cx="411480" cy="411480"/>
          </a:xfrm>
          <a:prstGeom prst="ellipse">
            <a:avLst/>
          </a:prstGeom>
          <a:solidFill>
            <a:srgbClr val="E3F1F3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651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ოფლაინ რეჟიმი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971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მონაცემების ლოკალური შენახვა — კრიტიკულია მთიან რეგიონებში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7448" y="2103120"/>
            <a:ext cx="411480" cy="411480"/>
          </a:xfrm>
          <a:prstGeom prst="ellipse">
            <a:avLst/>
          </a:prstGeom>
          <a:solidFill>
            <a:srgbClr val="E3F1F3"/>
          </a:solidFill>
          <a:ln/>
        </p:spPr>
      </p:sp>
      <p:sp>
        <p:nvSpPr>
          <p:cNvPr id="11" name="Text 9"/>
          <p:cNvSpPr/>
          <p:nvPr/>
        </p:nvSpPr>
        <p:spPr>
          <a:xfrm>
            <a:off x="4727448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27448" y="2651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შეფასებები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27448" y="2971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მომხმარებელთა კომენტარები და რეიტინგები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22208" y="2103120"/>
            <a:ext cx="411480" cy="411480"/>
          </a:xfrm>
          <a:prstGeom prst="ellipse">
            <a:avLst/>
          </a:prstGeom>
          <a:solidFill>
            <a:srgbClr val="E3F1F3"/>
          </a:solidFill>
          <a:ln/>
        </p:spPr>
      </p:sp>
      <p:sp>
        <p:nvSpPr>
          <p:cNvPr id="16" name="Text 14"/>
          <p:cNvSpPr/>
          <p:nvPr/>
        </p:nvSpPr>
        <p:spPr>
          <a:xfrm>
            <a:off x="8522208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22208" y="2651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რეკომენდაციები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22208" y="2971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პერსონალიზაცია ფავორიტებისა და ისტორიის მიხედვით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297680"/>
            <a:ext cx="411480" cy="411480"/>
          </a:xfrm>
          <a:prstGeom prst="ellipse">
            <a:avLst/>
          </a:prstGeom>
          <a:solidFill>
            <a:srgbClr val="E3F1F3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მრავალენოვნება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" y="5166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ქართული, ინგლისური, რუსული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40233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27448" y="4297680"/>
            <a:ext cx="411480" cy="411480"/>
          </a:xfrm>
          <a:prstGeom prst="ellipse">
            <a:avLst/>
          </a:prstGeom>
          <a:solidFill>
            <a:srgbClr val="E3F1F3"/>
          </a:solidFill>
          <a:ln/>
        </p:spPr>
      </p:sp>
      <p:sp>
        <p:nvSpPr>
          <p:cNvPr id="26" name="Text 24"/>
          <p:cNvSpPr/>
          <p:nvPr/>
        </p:nvSpPr>
        <p:spPr>
          <a:xfrm>
            <a:off x="4727448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27448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ადმინ-პანელი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727448" y="5166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კონტენტის მართვის ვებ-ინტერფეისი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402336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F1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22208" y="4297680"/>
            <a:ext cx="411480" cy="411480"/>
          </a:xfrm>
          <a:prstGeom prst="ellipse">
            <a:avLst/>
          </a:prstGeom>
          <a:solidFill>
            <a:srgbClr val="E3F1F3"/>
          </a:solidFill>
          <a:ln/>
        </p:spPr>
      </p:sp>
      <p:sp>
        <p:nvSpPr>
          <p:cNvPr id="31" name="Text 29"/>
          <p:cNvSpPr/>
          <p:nvPr/>
        </p:nvSpPr>
        <p:spPr>
          <a:xfrm>
            <a:off x="8522208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5E6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22208" y="48463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33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CI/CD და მონიტორინგი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22208" y="5166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5A61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ავტომატური ტესტები, ცენტრალიზებული ლოგირება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474720"/>
            <a:ext cx="10972800" cy="6858000"/>
          </a:xfrm>
          <a:prstGeom prst="ellipse">
            <a:avLst/>
          </a:prstGeom>
          <a:solidFill>
            <a:srgbClr val="075E6B">
              <a:alpha val="2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4206240"/>
            <a:ext cx="11887200" cy="6858000"/>
          </a:xfrm>
          <a:prstGeom prst="ellipse">
            <a:avLst/>
          </a:prstGeom>
          <a:solidFill>
            <a:srgbClr val="0E8C9E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B6B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ᲓᲐᲡᲙᲕᲜᲐ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დასახული მიზანი მიღწეულია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9FC4CB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შეიქმნა ფუნქციურად სრული და ტესტირებული პროტოტიპი, რომელიც აერთიანებს Flutter მობილურ კლიენტსა და მიკროსერვისულ სერვერულ ნაწილს.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6B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მიკროსერვისი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0" y="3291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6B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ცხრილი ბაზაში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26480" y="3291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15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6B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REST ენდპოინტი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78240" y="32918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77824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6B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პროგრამირების ენა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754880"/>
            <a:ext cx="10515600" cy="0"/>
          </a:xfrm>
          <a:prstGeom prst="line">
            <a:avLst/>
          </a:prstGeom>
          <a:noFill/>
          <a:ln w="12700">
            <a:solidFill>
              <a:srgbClr val="1E4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74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გმადლობთ ყურადღებისთვის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C7D6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კითხვები?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B6BE"/>
                </a:solidFill>
                <a:latin typeface="Sylfaen" pitchFamily="34" charset="0"/>
                <a:ea typeface="Sylfaen" pitchFamily="34" charset="-122"/>
                <a:cs typeface="Sylfaen" pitchFamily="34" charset="-120"/>
              </a:rPr>
              <a:t>github.com/thinWhiteDuke0/georgia-travel-guide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Microsoft Office PowerPoint</Application>
  <PresentationFormat>Widescreen</PresentationFormat>
  <Paragraphs>236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Sylfaen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საქართველოს ტურისტული გზამკვლევის მობილური აპლიკაცია</dc:title>
  <dc:subject>PptxGenJS Presentation</dc:subject>
  <dc:creator>Giorgi Manjavidze</dc:creator>
  <cp:lastModifiedBy>Giorgi Manjavidze</cp:lastModifiedBy>
  <cp:revision>2</cp:revision>
  <dcterms:created xsi:type="dcterms:W3CDTF">2026-08-07T07:33:44Z</dcterms:created>
  <dcterms:modified xsi:type="dcterms:W3CDTF">2026-08-07T10:02:43Z</dcterms:modified>
</cp:coreProperties>
</file>